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1" r:id="rId32"/>
    <p:sldId id="282" r:id="rId33"/>
    <p:sldId id="283" r:id="rId34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1897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GLASSES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kern="0" spc="200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VISUALLY IMPAIRED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2304288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87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 •  Faculty of Science, Zagazig University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Mathematics  |  2025–2026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291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6118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Ahmed Ali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Mohamed Ali Ahmed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Essam Hessen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Ehab Amen Mohamed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Nourhan Mohamed Mansour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Yasser Othman Ibrahim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320040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32120" y="3291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32120" y="3611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Zahraa Youssef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533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13533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68196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5956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5956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8379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18379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Flowchart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052828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0802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20802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 Overview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95144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3225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232257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&amp; OV3660 Sensor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37460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5648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25648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– Controller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79776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28072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28072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 &amp; Buzzer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022092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30495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304952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Management System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325880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13533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94960" y="13533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Connections Summary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1568196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15956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94960" y="15956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Libraries Overview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1810512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18379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94960" y="18379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Object Detection (Parts 1–3)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052828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937760" y="20802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94960" y="20802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Web Interface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2295144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37760" y="23225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232257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Interface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2537460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937760" y="25648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94960" y="25648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Google Colab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2779776"/>
            <a:ext cx="4114800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937760" y="28072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94960" y="28072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Abstract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We Are Solving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630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3619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impairment significantly affects the independence and quality of life of blind and visually impaired individuals. This project presents the design and implementation of a smart assistive glasses system aimed at enhancing mobility and environmental awareness through real-time audio feedback.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788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285M+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8640" y="34107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visual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impairment worldwide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6517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2788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383280" y="34107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blind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2788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217920" y="34107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visual impairments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preventable or curable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–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630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5727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88720" y="15727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Challenge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920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navigation, reading, and object ID require external help, reducing independence.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5727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94960" y="15727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Solution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1920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advancement enables smart assistive wearable devices.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2990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88720" y="29900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337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glasses combining obstacle detection (sensors) + text recognition (OCR) + audio feedback.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2990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394960" y="29900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Benefit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3337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accurate, and easy-to-use – a comprehensive wearable assistant.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Python?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Software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173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508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Syntax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856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understand, develop, and maintain even for complex features.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508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9496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Ecosystem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1856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Tesseract, Pillow, pyttsx3, PyTorch – all available.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2651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Processing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999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sensor inputs and camera data simultaneously.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5603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2651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9496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Integration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2999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support for ESP32 via GPIO and serial libraries.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794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 Prototyping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142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 on OCR algorithms and detection systems.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7033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3794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Support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142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active community, extensive documentation.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55448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" y="166420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(ESP32-CAM)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" y="29900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19202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33472" y="2029968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(YOLOv5 / OCR)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202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8032" y="2029968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04539" y="1540412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31152" y="166420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(Speaker)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288036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31152" y="29900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0240" y="1965960"/>
            <a:ext cx="640080" cy="2743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920240" y="3017520"/>
            <a:ext cx="640080" cy="41148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74934" y="2459267"/>
            <a:ext cx="289089" cy="9144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ar-EG" dirty="0"/>
          </a:p>
        </p:txBody>
      </p:sp>
      <p:sp>
        <p:nvSpPr>
          <p:cNvPr id="25" name="Shape 23"/>
          <p:cNvSpPr/>
          <p:nvPr/>
        </p:nvSpPr>
        <p:spPr>
          <a:xfrm flipV="1">
            <a:off x="6675121" y="1920240"/>
            <a:ext cx="329418" cy="2743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84264" y="3017520"/>
            <a:ext cx="173736" cy="32004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processes visual data in real-time, delivering audio guidance within milliseconds.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Bill of Materials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1732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490472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453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ESP32-CAM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72821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OV3660 camera module + Wi-Fi SoC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490472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453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Nano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172821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ATmega328P main controller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167128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24028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203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HC-SR04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47802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distance sensor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167128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224028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2203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DFPlayer Mini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247802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audio playback module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916936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299008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2953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18650 Battery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22783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Rechargeable lithium power source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916936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299008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2953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TP4056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322783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&amp; protection circuit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666744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3739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 Converter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39776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step-up from 3.7V battery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666744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92040" y="3739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578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Buzzer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57800" y="39776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audio alert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416552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48640" y="448970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3W Speaker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4400" y="472744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output for voice feedback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00600" y="4416552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92040" y="448970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7800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9V Battery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57800" y="472744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power option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ESP32-CAM Development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OV3660 Image Sensor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63040"/>
            <a:ext cx="512064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72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Overview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9385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ESP32-CAM is a low-cost, low-power System-on-Chip (SoC) combining a dual-core processor with integrated Wi-Fi and Bluetooth. Paired with the OV3660 sensor, it provides high-fidelity visual data acquisition for the smart glasses system.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4028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Xtensa dual-core LX6, up to 240 MHz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4028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KB SRAM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4028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MB PSRAM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4028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802.11 b/g/n + BT 4.2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4028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I2C, SPI, UART, ADC, PWM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4028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sleep: 6 µA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06440" y="1463040"/>
            <a:ext cx="2834640" cy="33375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OV3660 Sensor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0" y="1965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86600" y="19659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3MP (2048×1536)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0" y="23682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86600" y="2368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/ YUV422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0" y="2770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FPS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86600" y="2770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15 fps @3MP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43600" y="3172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086600" y="3172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66.5° wide angle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43600" y="3575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86600" y="3575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 (SCCB)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43600" y="39776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86600" y="3977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1.5V / 2.8V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43600" y="43799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Mode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86600" y="43799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exposure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ESP32-CAM – Key Functions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Powers the Smart Glasses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630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6002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80160" y="16002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Acquisition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197510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captures high-resolution images/video of the user's environment.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6002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0" y="16002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Transmission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197510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built-in Wi-Fi to send image payloads to cloud or smartphone via HTTP/HTTPS.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0632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280160" y="3063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Computer Vision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43814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object detection, OCR, and facial recognition via deep learning models.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30632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86400" y="3063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Wearable Viability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43814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Ultra-compact footprint + low power consumption – ideal for head-mounted devices.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ESP32-CAM – Software Setup &amp;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+ OV3660 Configuration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44752"/>
            <a:ext cx="5486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1508760"/>
            <a:ext cx="347472" cy="34747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boots and connects to pre-configured Wi-Fi / mobile hotspot automatically.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67128"/>
            <a:ext cx="5486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231136"/>
            <a:ext cx="347472" cy="34747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203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Config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4780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CAMERA_MODEL_AI_THINKER pinout with OV3660 parameters: resolution, JPEG quality, frame rate.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89504"/>
            <a:ext cx="5486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2953512"/>
            <a:ext cx="347472" cy="34747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captured at time intervals or triggered by user button press.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5486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675888"/>
            <a:ext cx="347472" cy="34747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48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Transmission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227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sent via HTTP/HTTPS to cloud server or local processing unit.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334256"/>
            <a:ext cx="5486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" y="4398264"/>
            <a:ext cx="347472" cy="34747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398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4370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Feedback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4645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Cloud/smartphone processes image with AI; audio results routed back to user.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1444752"/>
            <a:ext cx="2514600" cy="3611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9360" y="1554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Tools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09360" y="19202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1892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242316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23957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Board Package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292608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2898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FTDI Programmer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342900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3401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Thinker Pinout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393192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3904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Lib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09360" y="44348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4407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WiFiClientSecure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Nano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ATmega328P – The System Controller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44752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Specifications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31720" y="19202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ATmega328P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21625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Speed: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31720" y="216255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MHz crystal oscillator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24048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31720" y="24048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MIPS at 16 MHz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26471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Memory: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31720" y="264718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 (2 KB bootloader)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28895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31720" y="288950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KB internal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31318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31720" y="313182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33741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31720" y="337413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(3.3V limited)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36164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Voltage: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31720" y="36164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7–12V recommended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38587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I/O: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31720" y="38587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pins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41010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Inputs: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31720" y="410108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pins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43434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Outputs: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31720" y="43434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pins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" y="45857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31720" y="458571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Mini-B / VIN pin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1444752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in Smart Glasses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46320" y="201168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19842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Data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20640" y="2221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object detection results from ESP32-CAM via UART (TX/RX)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258775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2560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Reading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0640" y="2798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HC-SR04 ultrasonic sensor distance data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46320" y="316382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31363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Control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20640" y="3374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DFPlayer Mini to play pre-recorded voice messages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46320" y="373989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7124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Logic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20640" y="3950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buzzer when object is within 30 cm threshold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46320" y="431596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42885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Managed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20640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5V Boost Converter from 18650 battery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Ultrasonic Sensor &amp; Buzzer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– Obstacle Detection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44752"/>
            <a:ext cx="4206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HC-SR04 Sensor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distance using Time-of-Flight (ToF) by emitting 40 kHz ultrasonic pulses and measuring the reflected echo. Distance = (Time × Speed of Sound) ÷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Connections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999232"/>
            <a:ext cx="38404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0449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3044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from Arduino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456432"/>
            <a:ext cx="38404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5021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3502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Ground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913632"/>
            <a:ext cx="38404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9593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3959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output pin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370832"/>
            <a:ext cx="38404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4416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00200" y="4416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input pin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1444752"/>
            <a:ext cx="37947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0" y="1554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Buzzer Alert Logic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19933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Distance: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19933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 cm from obstacle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450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Type: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24505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digital HIGH/LOW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9077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Pattern: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03720" y="29077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while obstacle present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33649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Used: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3720" y="33649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buzzer (no PWM needed)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38221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5V, shared with Arduino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4206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Logic: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15000" y="42291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(distance &gt; 0 &amp;&amp; distance &lt;= 30)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digitalWrite(buzzer, HIGH);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{ digitalWrite(buzzer, LOW); }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Management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18650 + TP4056 + Boost Converter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630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572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18650 Li-Ion Battery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2606040"/>
            <a:ext cx="13716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2743200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157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Voltage: 3.7V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3200400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1729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~2500 mAh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" y="3657600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6301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Rechargeable lithium-ion cell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4114800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873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portable power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14630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0" y="1572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38328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TP4056 Charge Module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31920" y="2606040"/>
            <a:ext cx="13716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56432" y="2743200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7157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CC/CV charging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56432" y="3200400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31729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Over-charge protection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56432" y="3657600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36301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Over-discharge protection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56432" y="4114800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40873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B+/B– to battery terminals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14630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17920" y="1572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621792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 Converter (5V)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66560" y="2606040"/>
            <a:ext cx="13716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91072" y="2743200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27157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3.7V → stable 5V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91072" y="3200400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1729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Arduino Nano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91072" y="3657600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36301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ESP32-CAM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91072" y="4114800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40873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OUT– → common ground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 →  TP4056  →  Boost Converter  →  Arduino &amp; ESP32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Connections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Wiring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44752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1536192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527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1481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ESP32-CAM → Arduino Nano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TX/RX cross-connection for serial data transfer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423160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14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2368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Nano → Ultrasonic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624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TRIG=output, ECHO=input, VCC=5V, GND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18688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310128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3255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Nano → Buzzer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511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pin HIGH/LOW control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4197096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87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14400" y="4142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Nano → DFPlayer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398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TX/RX digital pins for audio commands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1444752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1536192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527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57800" y="1481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DFPlayer → Speaker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SPK1 / SPK2 direct speaker connection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233172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0" y="2423160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414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257800" y="2368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TP4056 → Boost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2624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OUT+/OUT– to boost converter input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218688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37760" y="3310128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257800" y="3255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 → Arduino &amp; ESP32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3511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OUT+ to both VCC pins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4105656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937760" y="4197096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4187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257800" y="4142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Ground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57800" y="4398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share GND for stable operation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Software Libraries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417320"/>
            <a:ext cx="2816352" cy="768096"/>
          </a:xfrm>
          <a:prstGeom prst="roundRect">
            <a:avLst>
              <a:gd name="adj" fmla="val 11905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490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 by Google for model training &amp; deployment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10128" y="1417320"/>
            <a:ext cx="2816352" cy="768096"/>
          </a:xfrm>
          <a:prstGeom prst="roundRect">
            <a:avLst>
              <a:gd name="adj" fmla="val 11905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47288" y="1490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7288" y="17465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image capture, preprocessing and video processing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54496" y="1417320"/>
            <a:ext cx="2816352" cy="768096"/>
          </a:xfrm>
          <a:prstGeom prst="roundRect">
            <a:avLst>
              <a:gd name="adj" fmla="val 11905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91656" y="1490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YOLOv5/v8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91656" y="17465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– identifies items in single forward pass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313432"/>
            <a:ext cx="2816352" cy="768096"/>
          </a:xfrm>
          <a:prstGeom prst="roundRect">
            <a:avLst>
              <a:gd name="adj" fmla="val 11905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3865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2642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training &amp; GPU-accelerated inference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10128" y="2313432"/>
            <a:ext cx="2816352" cy="768096"/>
          </a:xfrm>
          <a:prstGeom prst="roundRect">
            <a:avLst>
              <a:gd name="adj" fmla="val 11905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47288" y="23865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pyttsx3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47288" y="2642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text-to-speech audio feedback generation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54496" y="2313432"/>
            <a:ext cx="2816352" cy="768096"/>
          </a:xfrm>
          <a:prstGeom prst="roundRect">
            <a:avLst>
              <a:gd name="adj" fmla="val 11905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91656" y="23865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SpeechRecognition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91656" y="2642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 input – hands-free interaction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209544"/>
            <a:ext cx="2816352" cy="768096"/>
          </a:xfrm>
          <a:prstGeom prst="roundRect">
            <a:avLst>
              <a:gd name="adj" fmla="val 11905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2826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 / Pillow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538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resizing, cropping, color conversion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10128" y="3209544"/>
            <a:ext cx="2816352" cy="768096"/>
          </a:xfrm>
          <a:prstGeom prst="roundRect">
            <a:avLst>
              <a:gd name="adj" fmla="val 11905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47288" y="32826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47288" y="3538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array/matrix operations for model I/O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54496" y="3209544"/>
            <a:ext cx="2816352" cy="768096"/>
          </a:xfrm>
          <a:prstGeom prst="roundRect">
            <a:avLst>
              <a:gd name="adj" fmla="val 11905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91656" y="32826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91656" y="3538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of training metrics and results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105656"/>
            <a:ext cx="2816352" cy="768096"/>
          </a:xfrm>
          <a:prstGeom prst="roundRect">
            <a:avLst>
              <a:gd name="adj" fmla="val 11905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" y="41788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Roboflow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4434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annotation, augmentation, and management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10128" y="4105656"/>
            <a:ext cx="2816352" cy="768096"/>
          </a:xfrm>
          <a:prstGeom prst="roundRect">
            <a:avLst>
              <a:gd name="adj" fmla="val 11905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447288" y="41788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Tkinter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47288" y="4434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creation for developer/caregiver interface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54496" y="4105656"/>
            <a:ext cx="2816352" cy="768096"/>
          </a:xfrm>
          <a:prstGeom prst="roundRect">
            <a:avLst>
              <a:gd name="adj" fmla="val 11905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91656" y="41788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91656" y="4434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communication with ESP32-CAM over network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YOLOv5 Object Detection – 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– Architecture &amp; Core Principles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44752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3619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(You Only Look Once) is a real-time object detection algorithm that treats detection as a single regression problem. Unlike traditional methods that scan the image multiple times with sliding windows, YOLO divides the image into an S×S grid and predicts bounding boxes, confidence scores, and class probabilities all in one forward pass through the neural network — making it dramatically faster than two-stage detectors like R-CNN.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761488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Grid-Based Detection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divided into S×S cells. Each cell predicts B bounding boxes + confidence + C class probabilities simultaneously.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670048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761488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Forward Pass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5780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 proposals needed. One CNN pass produces all detections — enables real-time processing even on lightweight hardware.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47872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639312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Bounding Box Regression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38679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predicted as (x, y, w, h, confidence). NMS filters overlapping boxes to keep only the highest-confidence detection.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547872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639312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 Boxes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57800" y="38679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aspect ratio templates. YOLOv5 uses 3 anchors per scale across 3 detection heads (small, medium, large objects).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425696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4517136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Score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" y="4745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Pr(Object) × IoU(pred, truth). Only detections above threshold (e.g. 0.5) trigger audio announcement to the blind user.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4425696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4517136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Multi-Scale Detection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57800" y="4745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uses FPN (Feature Pyramid Network) to detect objects at 3 different scales — handles both nearby obstacles and far objects.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&amp; Text-to-Speech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World Aloud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6304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5544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88720" y="1554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Tesseract OCR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88720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OCR engine that recognizes printed text from images captured by the ESP32-CAM. Reads signs, books, labels, and documents.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46304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5544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32120" y="1554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pyttsx3 TTS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32120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text-to-speech library. Converts recognized text and object names into spoken audio at 150 wpm, playable through the speaker.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33472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7249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88720" y="2724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SpeechRecognition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88720" y="3044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for voice commands from the user, enabling hands-free interaction with the glasses system.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633472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27249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32120" y="2724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Cooldown System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532120" y="3044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3-second cooldown prevents repetitive speech when the camera stays pointed at the same object, using a timestamp dictionary.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03904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38953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188720" y="38953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Threading + Queue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88720" y="42153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runs in a separate background thread (via queue FIFO) so detection never freezes or lags during voice output.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803904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38953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532120" y="38953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DFPlayer Mini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532120" y="42153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audio module that plays pre-recorded voice messages (e.g., currency values) via serial commands from Arduino Nano.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Graphical User Interface (GUI)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Tkinter – Developer &amp; Caregiver Panel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4475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3619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Tkinter-based GUI allows developers and caregivers to monitor, test, and configure the smart glasses system without any command-line knowledge.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114800" cy="603504"/>
          </a:xfrm>
          <a:prstGeom prst="roundRect">
            <a:avLst>
              <a:gd name="adj" fmla="val 15152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35915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322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Camera Feed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24912" y="23225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real-time video from the ESP32-CAM module.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4114800" cy="603504"/>
          </a:xfrm>
          <a:prstGeom prst="roundRect">
            <a:avLst>
              <a:gd name="adj" fmla="val 15152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05409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017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Results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24912" y="3017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detected objects, confidence scores, and bounding boxes.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75888"/>
            <a:ext cx="4114800" cy="603504"/>
          </a:xfrm>
          <a:prstGeom prst="roundRect">
            <a:avLst>
              <a:gd name="adj" fmla="val 15152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74904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7124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 Display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24912" y="37124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recognized Egyptian banknote denomination.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370832"/>
            <a:ext cx="4114800" cy="603504"/>
          </a:xfrm>
          <a:prstGeom prst="roundRect">
            <a:avLst>
              <a:gd name="adj" fmla="val 15152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443984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4074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/ Stop Controls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24912" y="4407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to toggle object detection and scene description.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286000"/>
            <a:ext cx="4114800" cy="603504"/>
          </a:xfrm>
          <a:prstGeom prst="roundRect">
            <a:avLst>
              <a:gd name="adj" fmla="val 15152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235915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322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Test Button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68312" y="23225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audio output and TTS engine directly from the GUI.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980944"/>
            <a:ext cx="4114800" cy="603504"/>
          </a:xfrm>
          <a:prstGeom prst="roundRect">
            <a:avLst>
              <a:gd name="adj" fmla="val 15152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305409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017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Obstacle Alerts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68312" y="3017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indicator when ultrasonic sensor detects nearby objects.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675888"/>
            <a:ext cx="4114800" cy="603504"/>
          </a:xfrm>
          <a:prstGeom prst="roundRect">
            <a:avLst>
              <a:gd name="adj" fmla="val 15152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37760" y="374904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37124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Description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68312" y="37124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natural language description of the captured scene.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4370832"/>
            <a:ext cx="4114800" cy="603504"/>
          </a:xfrm>
          <a:prstGeom prst="roundRect">
            <a:avLst>
              <a:gd name="adj" fmla="val 15152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37760" y="4443984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44074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Status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68312" y="4407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connection status, model load state, and Wi-Fi info.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on Google Colab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Model Training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4475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3619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 train.py --img 320 --batch 16 --epochs 11 --data Egyptian-Currency-2/data.yaml --weights yolov5n.pt --cache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350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--img 320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26151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resized to 320×320 px — reduces computation, ideal for wearables.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--batch 16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34655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16 images at once — balances speed vs. memory usage.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4050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--epochs 11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4315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seen 11 times — sufficient for transfer learning convergence.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28600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350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--data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26151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data.yaml defines paths, class count, and class names (6 denominations).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136392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--weights yolov5n.pt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37760" y="34655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Nano pre-trained weights — enables transfer learning.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3986784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4050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--cache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37760" y="4315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cached in RAM — significantly speeds up training iterations.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System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Smart Glasses Can 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46304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2084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Object Detection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identifies objects instantly from the ESP32-CAM live feed.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78608" y="146304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5176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51760" y="2084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Feedback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51760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pyttsx3 announces detected objects, currency, and alerts via speaker.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73168" y="146304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46320" y="2084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 Recognition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all 6 Egyptian banknote denominations (5–200 EGP).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67728" y="146304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40880" y="2084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Interaction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40880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voice commands for controlling detection and navigation.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20040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57200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Obstacle Detection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 sensor warns user when objects are within 30 cm.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78608" y="320040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65176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2651760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Connectivity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5176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Wi-Fi module connects to cloud or smartphone for AI processing.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73168" y="320040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4846320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&amp; Wearable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hardware design minimizes weight for daily comfort.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67728" y="320040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4088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040880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Interface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04088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 for caregivers to monitor system and configure settings.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Code – Logic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Measurement &amp; Buzzer Control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44752"/>
            <a:ext cx="50292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361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Structure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1920240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18928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Definitions: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78608" y="1892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trigPin, echoPin, buzzer declared as const int.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267712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2240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78608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pinMode configurations + Serial.begin(9600).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615184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2587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 Pulse: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78608" y="2587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LOW→HIGH for 10µs to trigger ultrasonic pulse.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2962656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29352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Reading: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78608" y="29352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pulseIn() measures round-trip echo duration.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310128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32826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Calc: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78608" y="32826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= (duration × 0.0343) / 2 (cm).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657600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3630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Output: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78608" y="3630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distance to Serial Monitor for debugging.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4005072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" y="3977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Logic: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78608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(distance &gt; 0 &amp;&amp; distance &lt;= 30) → HIGH.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352544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4325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Delay: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578608" y="43251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delay(50ms) for measurement stability.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0" y="1444752"/>
            <a:ext cx="2971800" cy="3383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852160" y="15361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52160" y="1993392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52160" y="2468880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2441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walking aids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52160" y="2944368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29169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wearables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52160" y="3419856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0760" y="33924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alert systems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852160" y="3895344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0760" y="3867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monitoring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852160" y="4370832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4343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navigation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Smart Glasses?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Our Assistive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4475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3619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wearable device with intelligent hardware &amp; software — captures visual data, processes it with AI, and delivers audio guidance to blind users in real time.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35915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3317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04288" y="23317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objects, obstacles, and currency without user input.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28600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35915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4648" y="23317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47688" y="23317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Python, Arduino/ESP32, camera, and audio seamlessly.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53512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02666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29992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04288" y="2999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commands + audible responses — fully hands-free.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953512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02666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4648" y="29992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47688" y="2999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obstacle detection reduces accident risk.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21024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369417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6667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304288" y="36667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interactions via audio; no vision required to operate.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621024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369417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84648" y="36667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47688" y="36667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dynamically to lighting changes and varied environments.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288536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4360" y="436168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43342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Convenience: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304288" y="43342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wearable design for everyday daily activities.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4288536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A3660">
              <a:alpha val="80000"/>
            </a:srgbClr>
          </a:solidFill>
          <a:ln w="1524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37760" y="436168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84648" y="43342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47688" y="43342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Expandable: GPS, facial recognition, IoT, embedded AI platforms.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44752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36192"/>
            <a:ext cx="7863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glasses system effectively assists visually impaired users in obstacle detection and text/currency recognition. Experimental results confirm reliable real-time performance with high detection accuracy and clear audio responses.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587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92.8%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2920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24328" y="25146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70048" y="2587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70048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91456" y="25146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37176" y="2587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37176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58584" y="25146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04304" y="2587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004304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703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069080"/>
            <a:ext cx="146304" cy="14630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0416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outdoor navigation &amp; path planning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407408"/>
            <a:ext cx="146304" cy="14630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3799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multi-sensor obstacle detection with data fusion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4745736"/>
            <a:ext cx="146304" cy="14630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7183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deep learning dataset for improved recognition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4069080"/>
            <a:ext cx="146304" cy="14630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40416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IoT integration with smartphone &amp; cloud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4407408"/>
            <a:ext cx="146304" cy="14630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3799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 deployment (Jetson Nano, RPi)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4745736"/>
            <a:ext cx="146304" cy="14630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47183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text-to-speech support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2286000"/>
            <a:ext cx="5486400" cy="54864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100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Glasses for the Visually Impaired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0906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Ahmed Ali       Youssef Mohamed Ali Ahmed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438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Essam Hessen    Ehab Amen Mohamed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7856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Nourhan Mohamed Mansour    Aml Yasser Othman Ibrahim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Supervisor: Dr. Zahraa Youssef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Science, Zagazig University  |  Department of Mathematics  |  2025–2026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YOLOv5 Model Variants &amp; Our Choice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– Model Selection for Wearable Deployment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44752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3619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comes in 5 variants scaling from Nano to XLarge. For smart glasses worn by visually impaired users, we prioritize speed and low memory over maximum accuracy — making YOLOv5 Nano the ideal choice. It runs comfortably via Wi-Fi on the ESP32-CAM with Python inference on the connected PC, achieving real-time performance without GPU hardware.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761488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YOLOv5n (Nano) ✓ Used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1.9M params, ~4.5ms latency. Smallest &amp; fastest — perfect for wearables with limited processing power.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670048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761488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YOLOv5s (Small)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5780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7.2M params, ~6.4ms. Higher accuracy than Nano, still fast. Good alternative if processing allows.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47872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639312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Classes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38679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COCO (80 classes): person, chair, door, bottle, car, phone, cup, backpack, and more — all relevant to daily life navigation.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547872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639312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57800" y="38679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weights on COCO loaded first, then fine-tuned on our specific dataset. Saves training time and boosts accuracy with fewer images.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425696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4517136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Input: 320×320 px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" y="4745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streams JPEG frames. Python resizes to 320×320 before feeding to YOLOv5 — balances detail vs speed.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4425696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4517136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Output Pipeline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57800" y="4745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class name passed to pyttsx3 TTS engine. 3-sec cooldown prevents repeated announcements for same object.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Detection – Results &amp;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– Evaluation Metrics &amp; Real-World Accuracy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44752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3619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performance is measured using standard metrics: mAP (mean Average Precision), Precision, and Recall. Our YOLOv5 Nano model was evaluated on a held-out validation set after training on Google Colab. Results confirm the model is reliable enough for real-world assistive use, correctly identifying everyday objects with high confidence scores across varied lighting conditions.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761488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Precision: 0.864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86.4% of all detections made by the model are correct. Low false positive rate — model doesn't announce non-existent objects.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670048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761488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Recall: 0.850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5780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real objects in the scene are detected. Low miss rate — critical for safety so blind users aren't left unwarned of obstacles.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47872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639312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mAP@0.5: 92.8%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38679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Average Precision at IoU=0.5. Measures how well bounding boxes overlap real objects — 92.8% is excellent for assistive wearables.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547872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639312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mAP@0.5:0.95: 78.7%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57800" y="38679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metric averaged across IoU 0.5–0.95. Confirms model generalises well even under tighter overlap requirements.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425696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4517136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 Explained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" y="4745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over Union = overlap area / union area. IoU &gt; 0.5 means predicted box covers at least half the real object — counted as correct.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4425696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4517136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FPS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57800" y="4745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achieves 10–15 FPS over Wi-Fi ESP32-CAM stream — sufficient for live obstacle detection and audio alerts in walking scenarios.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ESP32-CAM Web Interface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Streaming Dashboard – Developer &amp; Caregiver Panel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280160"/>
            <a:ext cx="91440" cy="9144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44752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3619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ESP32-CAM hosts a secure web dashboard accessible via Wi-Fi. A PIN-protected login screen guards access, after which caregivers and developers can monitor the live camera feed, view captured photos, configure settings, and track system activity — all from a browser without any additional software. The interface is built with a dark theme for readability and clarity.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761488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Login Screen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4-digit PIN entry protects the dashboard. Prevents unauthorized access to the camera feed and system controls over the local network.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670048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761488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Camera Preview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5780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MJPEG video stream from the ESP32-CAM shown directly in the browser. Caregiver can see exactly what the glasses see.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47872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639312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Dashboard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38679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cards show: photos captured count, last capture time, Flash GPIO state (ON/OFF), and photos uploaded to Google Drive — at a glance.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547872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639312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Panel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57800" y="38679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switches for: Flash (GPIO 4), Auto Save to Google Drive, HDR Mode (higher quality), and Notifications on capture — all configurable live.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425696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4517136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Log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" y="4745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event log shows: photo saved to Drive, new capture requests, Flash ON/OFF, and login events — full traceability for debugging.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4425696"/>
            <a:ext cx="4114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4517136"/>
            <a:ext cx="201168" cy="201168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&amp; Google Drive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57800" y="4745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capture button triggers the ESP32-CAM. With Auto Save enabled, photos upload automatically to Google Drive for remote access.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2499</Words>
  <Application>Microsoft Office PowerPoint</Application>
  <PresentationFormat>On-screen Show (16:9)</PresentationFormat>
  <Paragraphs>531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Glasses for the Visually Impaired</dc:title>
  <dc:subject>PptxGenJS Presentation</dc:subject>
  <dc:creator>Zagazig University – Department of Mathematics</dc:creator>
  <cp:lastModifiedBy>mohamedtaha202015@outlook.com</cp:lastModifiedBy>
  <cp:revision>3</cp:revision>
  <dcterms:created xsi:type="dcterms:W3CDTF">2026-06-26T08:15:03Z</dcterms:created>
  <dcterms:modified xsi:type="dcterms:W3CDTF">2026-06-26T08:34:09Z</dcterms:modified>
</cp:coreProperties>
</file>